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f40b94cd7c4556" /><Relationship Type="http://schemas.openxmlformats.org/officeDocument/2006/relationships/extended-properties" Target="/docProps/app.xml" Id="R302540de3de84ac8" /><Relationship Type="http://schemas.openxmlformats.org/officeDocument/2006/relationships/officeDocument" Target="/ppt/presentation.xml" Id="R542d0942fb5543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45f10e9c564886"/>
  </p:sldMasterIdLst>
  <p:notesMasterIdLst>
    <p:notesMasterId xmlns:r="http://schemas.openxmlformats.org/officeDocument/2006/relationships" r:id="R785ca3047cdf4e4f"/>
  </p:notesMasterIdLst>
  <p:sldIdLst>
    <p:sldId xmlns:r="http://schemas.openxmlformats.org/officeDocument/2006/relationships" id="256" r:id="R0b180f474f2945f6"/>
    <p:sldId xmlns:r="http://schemas.openxmlformats.org/officeDocument/2006/relationships" id="257" r:id="Rcb5305d4012042bf"/>
    <p:sldId xmlns:r="http://schemas.openxmlformats.org/officeDocument/2006/relationships" id="258" r:id="R302d29a893d84049"/>
    <p:sldId xmlns:r="http://schemas.openxmlformats.org/officeDocument/2006/relationships" id="259" r:id="R1a427bda7de947de"/>
    <p:sldId xmlns:r="http://schemas.openxmlformats.org/officeDocument/2006/relationships" id="260" r:id="Rb9355edc2b074d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6b3f5b7ecd4165" /><Relationship Type="http://schemas.openxmlformats.org/officeDocument/2006/relationships/slideMaster" Target="/ppt/slideMasters/slideMaster1.xml" Id="R7b45f10e9c564886" /><Relationship Type="http://schemas.openxmlformats.org/officeDocument/2006/relationships/notesMaster" Target="/ppt/notesMasters/notesMaster1.xml" Id="R785ca3047cdf4e4f" /><Relationship Type="http://schemas.openxmlformats.org/officeDocument/2006/relationships/presProps" Target="/ppt/presProps.xml" Id="Rf17a4d838e0242bc" /><Relationship Type="http://schemas.openxmlformats.org/officeDocument/2006/relationships/tableStyles" Target="/ppt/tableStyles.xml" Id="R029f3d49b9d742c0" /><Relationship Type="http://schemas.openxmlformats.org/officeDocument/2006/relationships/slide" Target="/ppt/slides/slide1.xml" Id="R0b180f474f2945f6" /><Relationship Type="http://schemas.openxmlformats.org/officeDocument/2006/relationships/slide" Target="/ppt/slides/slide2.xml" Id="Rcb5305d4012042bf" /><Relationship Type="http://schemas.openxmlformats.org/officeDocument/2006/relationships/slide" Target="/ppt/slides/slide3.xml" Id="R302d29a893d84049" /><Relationship Type="http://schemas.openxmlformats.org/officeDocument/2006/relationships/slide" Target="/ppt/slides/slide4.xml" Id="R1a427bda7de947de" /><Relationship Type="http://schemas.openxmlformats.org/officeDocument/2006/relationships/slide" Target="/ppt/slides/slide5.xml" Id="Rb9355edc2b074d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51c4fb66844b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b4ad14a2dc41e8" /><Relationship Type="http://schemas.openxmlformats.org/officeDocument/2006/relationships/notesMaster" Target="/ppt/notesMasters/notesMaster1.xml" Id="Rc6cc4fec5c1944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0292ef96594283" /><Relationship Type="http://schemas.openxmlformats.org/officeDocument/2006/relationships/notesMaster" Target="/ppt/notesMasters/notesMaster1.xml" Id="Rbb15d1097c0d47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ef65346e0a4b6c" /><Relationship Type="http://schemas.openxmlformats.org/officeDocument/2006/relationships/notesMaster" Target="/ppt/notesMasters/notesMaster1.xml" Id="R88adc3e52f1443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b6bb90f2a2485f" /><Relationship Type="http://schemas.openxmlformats.org/officeDocument/2006/relationships/notesMaster" Target="/ppt/notesMasters/notesMaster1.xml" Id="R71b10e9bc6064b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a494aa72c148c2" /><Relationship Type="http://schemas.openxmlformats.org/officeDocument/2006/relationships/notesMaster" Target="/ppt/notesMasters/notesMaster1.xml" Id="R5756f974020343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TenderTripwire checks a synthetic tender and supplier evidence, prepares a review packet after human approval, and withdraws stale conclusions when an amendment changes a requirement. All demonstration documents are fictional. No actual procurement submission or certification verification. Created fresh for this hackathon with GPT/Astra development assistance, Node.js and Qwen open-weight inference; see repository acknowledgements.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source files are synthetic. Annexure A asks for SOLAR-24 under SYN-LIGHT-24-R2; the supplier certificate covers SOLAR-18 under SYN-LIGHT-18-R1. The baseline includes matching STUDY-12 evidence for Lot B. This capture presents a replay of a recorded genuine local model run; it is not fresh inference in the hosted viewer. Actual model-generated plan and tool events are preserved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human adds the synthetic corrigendum; this is not automatic discovery from a procurement portal. The system increments the evidence revision, revokes the prior approval and packet, and rechecks the changed requirement. A genuine follow-up model run reaches the missing-evidence outcome. No external tender is submitted and no declaration is invented.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automated test output and recorded model-run evidence, final version 2026-10-01 verified prototype. Automated count includes deterministic and explicitly mocked controller tests; it is not a live-model accuracy score. Recorded baseline and amendment runs passed. Final constrained Docker baseline acceptance passed in 134 seconds under enforced 2 CPU, 4 GiB RAM, no network and 280-second deadline. Separate authenticated publication and then anonymous pull both succeeded for the pinned digest. The public replay records the earlier verified run; later code adds explicit required-lot scope and one model repair attempt after a disclosed CI planning omission. Initial smaller-model attempts failed safely; the final implementation uses bounded planning and validated tools. This is a narrow synthetic prototype, not a benchmark for arbitrary real tenders. Qwen3-1.7B license Apache2; llama.cpp MIT. Runtime artifacts hash-verified. No private credentials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pilot and revenue hypothesis, not traction, measured savings, market size or validated willingness to pay. Founder Priyanshu Maheshwari studied Business at NTU with Marketing specialization and Entrepreneurship minor; business operations experience informs product framing. Public procurement context: Government of India CPPP bidder instructions emphasize reading requirements and corrigenda, https://eprocure.gov.in/epublish/app?page=HelpForContractors&amp;service=page . Current prototype uses structured synthetic documents and does not provide legal advice, guarantee eligibility, validate certificate authenticity or automate portal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d4f58f0854c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a1175c8dcb481e" /><Relationship Type="http://schemas.openxmlformats.org/officeDocument/2006/relationships/slideLayout" Target="/ppt/slideLayouts/slideLayout1.xml" Id="Rdac72947144841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c72947144841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595470e8043d5" /><Relationship Type="http://schemas.openxmlformats.org/officeDocument/2006/relationships/notesSlide" Target="/ppt/notesSlides/notesSlide1.xml" Id="R86ae1ad94d194d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08ba9bdfd492e" /><Relationship Type="http://schemas.openxmlformats.org/officeDocument/2006/relationships/image" Target="/ppt/media/image.jpeg" Id="Rb2ad1e3c562f4636" /><Relationship Type="http://schemas.openxmlformats.org/officeDocument/2006/relationships/notesSlide" Target="/ppt/notesSlides/notesSlide2.xml" Id="Rfb444ae4115640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d740ac8ca4632" /><Relationship Type="http://schemas.openxmlformats.org/officeDocument/2006/relationships/image" Target="/ppt/media/image2.jpeg" Id="R4e39a76b92464eb2" /><Relationship Type="http://schemas.openxmlformats.org/officeDocument/2006/relationships/notesSlide" Target="/ppt/notesSlides/notesSlide3.xml" Id="Rf4d6c81b5bbe48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31ce623ea4b8f" /><Relationship Type="http://schemas.openxmlformats.org/officeDocument/2006/relationships/notesSlide" Target="/ppt/notesSlides/notesSlide4.xml" Id="R159f8a4adf9242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8afcefb814c26" /><Relationship Type="http://schemas.openxmlformats.org/officeDocument/2006/relationships/notesSlide" Target="/ppt/notesSlides/notesSlide5.xml" Id="R30e20841905e4a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9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5F253-CEBB-43D9-9775-EEB4696E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C0B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C0B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C7367-7FCA-4D1E-9645-346382C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5F3ED"/>
                </a:solidFill>
                <a:latin typeface="Arial"/>
                <a:ea typeface="Arial"/>
                <a:cs typeface="Arial"/>
              </a:rPr>
              <a:t>TenderTripwire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DE332-2F44-4132-BAFE-7EC746A9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763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3ED"/>
                </a:solidFill>
                <a:latin typeface="Arial"/>
                <a:ea typeface="Arial"/>
                <a:cs typeface="Arial"/>
              </a:rPr>
              <a:t>A tender changes.</a:t>
            </a:r>
          </a:p>
          <a:p xmlns:a="http://schemas.openxmlformats.org/drawingml/2006/main">
            <a:pPr>
              <a:defRPr sz="435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3ED"/>
                </a:solidFill>
                <a:latin typeface="Arial"/>
                <a:ea typeface="Arial"/>
                <a:cs typeface="Arial"/>
              </a:rPr>
              <a:t>The review changes with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9C48C-13A0-4227-A9A2-48F23597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FB4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FB458"/>
                </a:solidFill>
                <a:latin typeface="Arial"/>
                <a:ea typeface="Arial"/>
                <a:cs typeface="Arial"/>
              </a:rPr>
              <a:t>An evidence-checking agent for small suppliers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548D3-A5CE-4D75-9623-86601A23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CA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CAC4"/>
                </a:solidFill>
                <a:latin typeface="Arial"/>
                <a:ea typeface="Arial"/>
                <a:cs typeface="Arial"/>
              </a:rPr>
              <a:t>Priyanshu Maheshwari</a:t>
            </a:r>
          </a:p>
          <a:p xmlns:a="http://schemas.openxmlformats.org/drawingml/2006/main">
            <a:pPr>
              <a:defRPr sz="1725" b="0">
                <a:solidFill>
                  <a:srgbClr val="BBCA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CAC4"/>
                </a:solidFill>
                <a:latin typeface="Arial"/>
                <a:ea typeface="Arial"/>
                <a:cs typeface="Arial"/>
              </a:rPr>
              <a:t>BHARAT AGENTIC 2026</a:t>
            </a:r>
          </a:p>
        </p:txBody>
      </p:sp>
    </p:spTree>
    <p:extLst>
      <p:ext uri="{BB962C8B-B14F-4D97-AF65-F5344CB8AC3E}">
        <p14:creationId xmlns:p14="http://schemas.microsoft.com/office/powerpoint/2010/main" val="1908378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FCC1D-28DD-41BB-B7FB-7B76AE36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9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92B"/>
                </a:solidFill>
                <a:latin typeface="Arial"/>
                <a:ea typeface="Arial"/>
                <a:cs typeface="Arial"/>
              </a:rPr>
              <a:t>The certificate does not cover Lot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3EDBE-9A18-4887-BAE2-84B1AFB7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A6928-AF74-491E-968A-91417FDA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29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6292B"/>
                </a:solidFill>
                <a:latin typeface="Arial"/>
                <a:ea typeface="Arial"/>
                <a:cs typeface="Arial"/>
              </a:rPr>
              <a:t>Required: SOLAR-24</a:t>
            </a:r>
          </a:p>
          <a:p xmlns:a="http://schemas.openxmlformats.org/drawingml/2006/main">
            <a:pPr>
              <a:defRPr sz="2625" b="1">
                <a:solidFill>
                  <a:srgbClr val="1629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6292B"/>
                </a:solidFill>
                <a:latin typeface="Arial"/>
                <a:ea typeface="Arial"/>
                <a:cs typeface="Arial"/>
              </a:rPr>
              <a:t>Evidence: SOLAR-18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149A8-320C-477F-8A33-1075818A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76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766"/>
                </a:solidFill>
                <a:latin typeface="Arial"/>
                <a:ea typeface="Arial"/>
                <a:cs typeface="Arial"/>
              </a:rPr>
              <a:t>The agent retrieves source lines, identifies the mismatch and checks the alternative 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2374A-3D41-4467-99AF-B6959885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8756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87560"/>
                </a:solidFill>
                <a:latin typeface="Arial"/>
                <a:ea typeface="Arial"/>
                <a:cs typeface="Arial"/>
              </a:rPr>
              <a:t>Lot B has matching evidence in this scenario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d1e3c562f4636"/>
          <a:stretch xmlns:a="http://schemas.openxmlformats.org/drawingml/2006/main"/>
        </p:blipFill>
        <p:spPr>
          <a:xfrm xmlns:a="http://schemas.openxmlformats.org/drawingml/2006/main">
            <a:off x="4953000" y="1643225"/>
            <a:ext cx="6619875" cy="4238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239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23BA4-F3D4-4778-9886-B5EB2BEB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9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92B"/>
                </a:solidFill>
                <a:latin typeface="Arial"/>
                <a:ea typeface="Arial"/>
                <a:cs typeface="Arial"/>
              </a:rPr>
              <a:t>A new requirement revokes the old packet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62919-7B66-4262-BB0E-E0B0E4AD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9a76b92464eb2"/>
          <a:stretch xmlns:a="http://schemas.openxmlformats.org/drawingml/2006/main"/>
        </p:blipFill>
        <p:spPr>
          <a:xfrm xmlns:a="http://schemas.openxmlformats.org/drawingml/2006/main">
            <a:off x="732943" y="1457325"/>
            <a:ext cx="6992314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1AECD-F535-456B-B007-C5D5693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954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756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7560"/>
                </a:solidFill>
                <a:latin typeface="Arial"/>
                <a:ea typeface="Arial"/>
                <a:cs typeface="Arial"/>
              </a:rPr>
              <a:t>New document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54ECF-A4FB-44F8-974F-BA4EAB04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3095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29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92B"/>
                </a:solidFill>
                <a:latin typeface="Arial"/>
                <a:ea typeface="Arial"/>
                <a:cs typeface="Arial"/>
              </a:rPr>
              <a:t>Lot B now needs a lumen-maintenance test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87A31-55B5-4C94-A006-E4BAB65D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30956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66"/>
                </a:solidFill>
                <a:latin typeface="Arial"/>
                <a:ea typeface="Arial"/>
                <a:cs typeface="Arial"/>
              </a:rPr>
              <a:t>The report is missing. Approval expires and the previous ZIP can no longer be downloaded.</a:t>
            </a:r>
          </a:p>
        </p:txBody>
      </p:sp>
    </p:spTree>
    <p:extLst>
      <p:ext uri="{BB962C8B-B14F-4D97-AF65-F5344CB8AC3E}">
        <p14:creationId xmlns:p14="http://schemas.microsoft.com/office/powerpoint/2010/main" val="1581731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629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37D1C-2CFB-4A94-89EE-1CFB229F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3ED"/>
                </a:solidFill>
                <a:latin typeface="Arial"/>
                <a:ea typeface="Arial"/>
                <a:cs typeface="Arial"/>
              </a:rPr>
              <a:t>A small model with verifiable safeguards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A5624-0DA7-4B02-A7D8-788ACA39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C0B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C0B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29452-133C-4B5C-B654-055D9F4D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EFB458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EFB458"/>
                </a:solidFill>
                <a:latin typeface="Arial"/>
                <a:ea typeface="Arial"/>
                <a:cs typeface="Arial"/>
              </a:rPr>
              <a:t>104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78304-CBB1-4016-8BF3-40A15A64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3ED"/>
                </a:solidFill>
                <a:latin typeface="Arial"/>
                <a:ea typeface="Arial"/>
                <a:cs typeface="Arial"/>
              </a:rPr>
              <a:t>automated checks passed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6F01C-C682-4AE8-B270-93B5001E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4572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BCA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BCAC4"/>
                </a:solidFill>
                <a:latin typeface="Arial"/>
                <a:ea typeface="Arial"/>
                <a:cs typeface="Arial"/>
              </a:rPr>
              <a:t>Citation integrity, stale approvals, repeated requests, ZIP contents and document-injection defenses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52C54-1E9C-4570-93AA-787FD9BE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85925"/>
            <a:ext cx="5143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5F3ED"/>
                </a:solidFill>
                <a:latin typeface="Arial"/>
                <a:ea typeface="Arial"/>
                <a:cs typeface="Arial"/>
              </a:rPr>
              <a:t>Genuine local inference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5E83A-8EF8-4C1B-92E1-B884DF28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BCAC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BCAC4"/>
                </a:solidFill>
                <a:latin typeface="Arial"/>
                <a:ea typeface="Arial"/>
                <a:cs typeface="Arial"/>
              </a:rPr>
              <a:t>Qwen3-1.7B on CPU</a:t>
            </a:r>
          </a:p>
          <a:p xmlns:a="http://schemas.openxmlformats.org/drawingml/2006/main">
            <a:pPr>
              <a:defRPr sz="2175" b="0">
                <a:solidFill>
                  <a:srgbClr val="BBCAC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BCAC4"/>
                </a:solidFill>
                <a:latin typeface="Arial"/>
                <a:ea typeface="Arial"/>
                <a:cs typeface="Arial"/>
              </a:rPr>
              <a:t>No paid API account required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07BAD-3462-48FD-93F9-803035D9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05225"/>
            <a:ext cx="50006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3ED"/>
                </a:solidFill>
                <a:latin typeface="Arial"/>
                <a:ea typeface="Arial"/>
                <a:cs typeface="Arial"/>
              </a:rPr>
              <a:t>Real model completed in 134 seconds inside a 2 CPU, 4 GiB container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5D6A3-9579-408E-BC90-D8660A8E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267325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FB45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FB458"/>
                </a:solidFill>
                <a:latin typeface="Arial"/>
                <a:ea typeface="Arial"/>
                <a:cs typeface="Arial"/>
              </a:rPr>
              <a:t>Bounded model planning with deterministic validation and human approval</a:t>
            </a:r>
          </a:p>
        </p:txBody>
      </p:sp>
    </p:spTree>
    <p:extLst>
      <p:ext uri="{BB962C8B-B14F-4D97-AF65-F5344CB8AC3E}">
        <p14:creationId xmlns:p14="http://schemas.microsoft.com/office/powerpoint/2010/main" val="9503805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165C1-D4EF-45FD-9251-327FA72A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9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92B"/>
                </a:solidFill>
                <a:latin typeface="Arial"/>
                <a:ea typeface="Arial"/>
                <a:cs typeface="Arial"/>
              </a:rPr>
              <a:t>A focused pilot with small suppliers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0CCA6-8D03-4550-8016-C8FDBE4A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A4C1D-88AE-45E3-B6EC-27317837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75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7560"/>
                </a:solidFill>
                <a:latin typeface="Arial"/>
                <a:ea typeface="Arial"/>
                <a:cs typeface="Arial"/>
              </a:rPr>
              <a:t>First users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596DE-BCFE-4208-853C-1FB80C41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4667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92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292B"/>
                </a:solidFill>
                <a:latin typeface="Arial"/>
                <a:ea typeface="Arial"/>
                <a:cs typeface="Arial"/>
              </a:rPr>
              <a:t>Suppliers who prepare repeated bids with a small back-office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0F706-E4F5-4B89-A044-B2A4BF63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756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7560"/>
                </a:solidFill>
                <a:latin typeface="Arial"/>
                <a:ea typeface="Arial"/>
                <a:cs typeface="Arial"/>
              </a:rPr>
              <a:t>Proposed business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3ADEA-BF4F-4E0E-892D-957C149C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466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76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766"/>
                </a:solidFill>
                <a:latin typeface="Arial"/>
                <a:ea typeface="Arial"/>
                <a:cs typeface="Arial"/>
              </a:rPr>
              <a:t>Pay per reviewed packet or a monthly subscription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70DA6-1829-457D-B935-6FDF9CC2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430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75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7560"/>
                </a:solidFill>
                <a:latin typeface="Arial"/>
                <a:ea typeface="Arial"/>
                <a:cs typeface="Arial"/>
              </a:rPr>
              <a:t>What a pilot would measure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86583-A3DA-41E4-A47F-3E6F5761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62200"/>
            <a:ext cx="5238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629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292B"/>
                </a:solidFill>
                <a:latin typeface="Arial"/>
                <a:ea typeface="Arial"/>
                <a:cs typeface="Arial"/>
              </a:rPr>
              <a:t>Missed requirements</a:t>
            </a:r>
          </a:p>
          <a:p xmlns:a="http://schemas.openxmlformats.org/drawingml/2006/main">
            <a:pPr>
              <a:defRPr sz="2400" b="0">
                <a:solidFill>
                  <a:srgbClr val="1629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292B"/>
                </a:solidFill>
                <a:latin typeface="Arial"/>
                <a:ea typeface="Arial"/>
                <a:cs typeface="Arial"/>
              </a:rPr>
              <a:t>Time to assemble evidence</a:t>
            </a:r>
          </a:p>
          <a:p xmlns:a="http://schemas.openxmlformats.org/drawingml/2006/main">
            <a:pPr>
              <a:defRPr sz="2400" b="0">
                <a:solidFill>
                  <a:srgbClr val="1629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292B"/>
                </a:solidFill>
                <a:latin typeface="Arial"/>
                <a:ea typeface="Arial"/>
                <a:cs typeface="Arial"/>
              </a:rPr>
              <a:t>Incorrect ready 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B8C59-FC70-4DB8-9447-0C2A337F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67250"/>
            <a:ext cx="514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76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6"/>
                </a:solidFill>
                <a:latin typeface="Arial"/>
                <a:ea typeface="Arial"/>
                <a:cs typeface="Arial"/>
              </a:rPr>
              <a:t>Next: broader document formats, real supplier feedback and independently labelled tender cases</a:t>
            </a:r>
          </a:p>
        </p:txBody>
      </p:sp>
    </p:spTree>
    <p:extLst>
      <p:ext uri="{BB962C8B-B14F-4D97-AF65-F5344CB8AC3E}">
        <p14:creationId xmlns:p14="http://schemas.microsoft.com/office/powerpoint/2010/main" val="1631291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2026-10-01T07:21:36.1520000Z</dcterms:created>
  <dcterms:modified xsi:type="dcterms:W3CDTF">2026-10-01T07:21:36.1520000Z</dcterms:modified>
</coreProperties>
</file>